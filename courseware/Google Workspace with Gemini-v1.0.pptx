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Google Workspace with Gemini</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C155</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28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TRAINERS LISTED ON THE C155 COURSE PAGE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Course Trainer Profiles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4187952"/>
          </a:xfrm>
          <a:prstGeom prst="rect">
            <a:avLst/>
          </a:prstGeom>
          <a:noFill/>
        </p:spPr>
        <p:txBody>
          <a:bodyPr wrap="square" anchor="ctr">
            <a:spAutoFit/>
          </a:bodyPr>
          <a:lstStyle/>
          <a:p>
            <a:pPr algn="l">
              <a:spcAft>
                <a:spcPts val="300"/>
              </a:spcAft>
            </a:pPr>
            <a:r>
              <a:rPr sz="1700" b="1">
                <a:solidFill>
                  <a:srgbClr val="161B26"/>
                </a:solidFill>
                <a:latin typeface="Arial"/>
              </a:rPr>
              <a:t>Truman Ng</a:t>
            </a:r>
          </a:p>
          <a:p>
            <a:pPr algn="l">
              <a:spcAft>
                <a:spcPts val="300"/>
              </a:spcAft>
            </a:pPr>
            <a:r>
              <a:rPr sz="1300" b="0">
                <a:solidFill>
                  <a:srgbClr val="5B6372"/>
                </a:solidFill>
                <a:latin typeface="Arial"/>
              </a:rPr>
              <a:t>ACTA-certified trainer and technology practitioner with extensive experience in cloud, networking, databases, web systems and enterprise implementation.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role and the Workspace app you use most often.</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One repetitive writing, analysis or coordination task you would like to improve.</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One data, accuracy or sharing risk that should never be automated away.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MATERIALS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 Course Materials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C155 course page or the trainer-supplied Drive folder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courseware links for this course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Learner Guide and Lesson Plan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Activities folder for all 8 labs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 files together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1F6FEB"/>
                </a:solidFill>
                <a:latin typeface="Arial"/>
              </a:rPr>
              <a:t>Course page:  https://www.tertiarycourses.com.sg/google-workspace-with-gemini.html</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Lesson Plan — 2 Days, 15 instructional hours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Prompt safely, then create and refine a partner communication pack</a:t>
            </a:r>
          </a:p>
          <a:p>
            <a:pPr>
              <a:spcAft>
                <a:spcPts val="1000"/>
              </a:spcAft>
            </a:pPr>
            <a:r>
              <a:rPr sz="1400" b="0">
                <a:solidFill>
                  <a:srgbClr val="5B6372"/>
                </a:solidFill>
                <a:latin typeface="Arial"/>
              </a:rPr>
              <a:t>–  Topic 1: Getting Started with Gemini in Google Workspace (Labs 1–2)</a:t>
            </a:r>
          </a:p>
          <a:p>
            <a:pPr>
              <a:spcAft>
                <a:spcPts val="1000"/>
              </a:spcAft>
            </a:pPr>
            <a:r>
              <a:rPr sz="1400" b="0">
                <a:solidFill>
                  <a:srgbClr val="5B6372"/>
                </a:solidFill>
                <a:latin typeface="Arial"/>
              </a:rPr>
              <a:t>–  Topic 2: Gemini in Docs, Slides and Gmail (Labs 3–4)</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Turn clean data and meeting evidence into a controlled cross-app workflow</a:t>
            </a:r>
          </a:p>
          <a:p>
            <a:pPr>
              <a:spcAft>
                <a:spcPts val="1000"/>
              </a:spcAft>
            </a:pPr>
            <a:r>
              <a:rPr sz="1400" b="0">
                <a:solidFill>
                  <a:srgbClr val="5B6372"/>
                </a:solidFill>
                <a:latin typeface="Arial"/>
              </a:rPr>
              <a:t>–  Topic 3: Gemini in Sheets and Data Analysis (Labs 5–6)</a:t>
            </a:r>
          </a:p>
          <a:p>
            <a:pPr>
              <a:spcAft>
                <a:spcPts val="1000"/>
              </a:spcAft>
            </a:pPr>
            <a:r>
              <a:rPr sz="1400" b="0">
                <a:solidFill>
                  <a:srgbClr val="5B6372"/>
                </a:solidFill>
                <a:latin typeface="Arial"/>
              </a:rPr>
              <a:t>–  Topic 4: AI-Powered Workflows and Automation in Workspace (Labs 7–8)</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 am - 6:30 pm (1-hour lunch; two 15-minute tea breaks; 7.5 instructional hours)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Prompt &amp; Protect</a:t>
            </a:r>
          </a:p>
          <a:p>
            <a:pPr algn="l">
              <a:spcAft>
                <a:spcPts val="300"/>
              </a:spcAft>
            </a:pPr>
            <a:r>
              <a:rPr sz="1300" b="0">
                <a:solidFill>
                  <a:srgbClr val="5B6372"/>
                </a:solidFill>
                <a:latin typeface="Arial"/>
              </a:rPr>
              <a:t>Explain how Gemini works across Google Workspace, write effective prompts and apply responsible data, privacy and verification controls.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Write &amp; Present</a:t>
            </a:r>
          </a:p>
          <a:p>
            <a:pPr algn="l">
              <a:spcAft>
                <a:spcPts val="300"/>
              </a:spcAft>
            </a:pPr>
            <a:r>
              <a:rPr sz="1300" b="0">
                <a:solidFill>
                  <a:srgbClr val="5B6372"/>
                </a:solidFill>
                <a:latin typeface="Arial"/>
              </a:rPr>
              <a:t>Draft, rewrite, summarise and refine workplace content in Docs, Slides and Gmail while preserving source accuracy, audience fit and human approval.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Analyse &amp; Visualise</a:t>
            </a:r>
          </a:p>
          <a:p>
            <a:pPr algn="l">
              <a:spcAft>
                <a:spcPts val="300"/>
              </a:spcAft>
            </a:pPr>
            <a:r>
              <a:rPr sz="1300" b="0">
                <a:solidFill>
                  <a:srgbClr val="5B6372"/>
                </a:solidFill>
                <a:latin typeface="Arial"/>
              </a:rPr>
              <a:t>Clean, organise, analyse and visualise spreadsheet data with Gemini in Sheets, formulas and reproducible checks.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Connect &amp; Automate</a:t>
            </a:r>
          </a:p>
          <a:p>
            <a:pPr algn="l">
              <a:spcAft>
                <a:spcPts val="300"/>
              </a:spcAft>
            </a:pPr>
            <a:r>
              <a:rPr sz="1300" b="0">
                <a:solidFill>
                  <a:srgbClr val="5B6372"/>
                </a:solidFill>
                <a:latin typeface="Arial"/>
              </a:rPr>
              <a:t>Design an AI-assisted workflow across Meet, Drive, Sheets, Docs and Gmail, then implement and verify a bounded Workspace automation.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Work Smarter Without Giving Up Control</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Four Ideas That Govern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Candidate, not conclusion</a:t>
            </a:r>
          </a:p>
          <a:p>
            <a:pPr algn="l">
              <a:spcAft>
                <a:spcPts val="300"/>
              </a:spcAft>
            </a:pPr>
            <a:r>
              <a:rPr sz="1300" b="0">
                <a:solidFill>
                  <a:srgbClr val="5B6372"/>
                </a:solidFill>
                <a:latin typeface="Arial"/>
              </a:rPr>
              <a:t>Gemini creates a first pass; a human still verifies and decides.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Permission-aware context</a:t>
            </a:r>
          </a:p>
          <a:p>
            <a:pPr algn="l">
              <a:spcAft>
                <a:spcPts val="300"/>
              </a:spcAft>
            </a:pPr>
            <a:r>
              <a:rPr sz="1300" b="0">
                <a:solidFill>
                  <a:srgbClr val="5B6372"/>
                </a:solidFill>
                <a:latin typeface="Arial"/>
              </a:rPr>
              <a:t>Use the minimum approved Workspace sources and keep sharing deliberate.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Visible evidence</a:t>
            </a:r>
          </a:p>
          <a:p>
            <a:pPr algn="l">
              <a:spcAft>
                <a:spcPts val="300"/>
              </a:spcAft>
            </a:pPr>
            <a:r>
              <a:rPr sz="1300" b="0">
                <a:solidFill>
                  <a:srgbClr val="5B6372"/>
                </a:solidFill>
                <a:latin typeface="Arial"/>
              </a:rPr>
              <a:t>Sources, formulas, logs and review notes make work reproducible.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Bounded action</a:t>
            </a:r>
          </a:p>
          <a:p>
            <a:pPr algn="l">
              <a:spcAft>
                <a:spcPts val="300"/>
              </a:spcAft>
            </a:pPr>
            <a:r>
              <a:rPr sz="1300" b="0">
                <a:solidFill>
                  <a:srgbClr val="5B6372"/>
                </a:solidFill>
                <a:latin typeface="Arial"/>
              </a:rPr>
              <a:t>Draft, test and observe before any workflow scales or reaches others.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P-T-C-F + G-E-A-R Pattern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PERSONA + TASK</a:t>
            </a:r>
          </a:p>
          <a:p>
            <a:pPr algn="l">
              <a:spcAft>
                <a:spcPts val="300"/>
              </a:spcAft>
            </a:pPr>
            <a:r>
              <a:rPr sz="1200" b="0">
                <a:solidFill>
                  <a:srgbClr val="5B6372"/>
                </a:solidFill>
                <a:latin typeface="Arial"/>
              </a:rPr>
              <a:t>Who needs help and what finished action or artifact is required?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CONTEXT + FORMAT</a:t>
            </a:r>
          </a:p>
          <a:p>
            <a:pPr algn="l">
              <a:spcAft>
                <a:spcPts val="300"/>
              </a:spcAft>
            </a:pPr>
            <a:r>
              <a:rPr sz="1200" b="0">
                <a:solidFill>
                  <a:srgbClr val="5B6372"/>
                </a:solidFill>
                <a:latin typeface="Arial"/>
              </a:rPr>
              <a:t>Which approved sources, constraints and output structure govern the response?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GROUNDING + EVIDENCE</a:t>
            </a:r>
          </a:p>
          <a:p>
            <a:pPr algn="l">
              <a:spcAft>
                <a:spcPts val="300"/>
              </a:spcAft>
            </a:pPr>
            <a:r>
              <a:rPr sz="1200" b="0">
                <a:solidFill>
                  <a:srgbClr val="5B6372"/>
                </a:solidFill>
                <a:latin typeface="Arial"/>
              </a:rPr>
              <a:t>Can every material claim, number and action be traced and reproduced?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AUDIENCE + RISK</a:t>
            </a:r>
          </a:p>
          <a:p>
            <a:pPr algn="l">
              <a:spcAft>
                <a:spcPts val="300"/>
              </a:spcAft>
            </a:pPr>
            <a:r>
              <a:rPr sz="1200" b="0">
                <a:solidFill>
                  <a:srgbClr val="5B6372"/>
                </a:solidFill>
                <a:latin typeface="Arial"/>
              </a:rPr>
              <a:t>Is the result clear, permitted, appropriately shared and ready for human approval?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COURSE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AI speed is useful only when the evidence and decision owner stay visible.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Across every Workspace app, the durable workflow is select approved context, generate a bounded candidate, verify it, and act through normal controls.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Communication pack</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Prompt charter and verified briefing</a:t>
            </a:r>
          </a:p>
          <a:p>
            <a:pPr>
              <a:spcAft>
                <a:spcPts val="900"/>
              </a:spcAft>
            </a:pPr>
            <a:r>
              <a:rPr sz="1400" b="0">
                <a:solidFill>
                  <a:srgbClr val="161B26"/>
                </a:solidFill>
                <a:latin typeface="Arial"/>
              </a:rPr>
              <a:t>•  Docs, Gmail and Slides artifacts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Data decision pack</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Clean registration tracker</a:t>
            </a:r>
          </a:p>
          <a:p>
            <a:pPr>
              <a:spcAft>
                <a:spcPts val="900"/>
              </a:spcAft>
            </a:pPr>
            <a:r>
              <a:rPr sz="1400" b="0">
                <a:solidFill>
                  <a:srgbClr val="161B26"/>
                </a:solidFill>
                <a:latin typeface="Arial"/>
              </a:rPr>
              <a:t>•  Metrics, pivot and chart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Workflow pack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Reviewed meeting recap</a:t>
            </a:r>
          </a:p>
          <a:p>
            <a:pPr>
              <a:spcAft>
                <a:spcPts val="900"/>
              </a:spcAft>
            </a:pPr>
            <a:r>
              <a:rPr sz="1400" b="0">
                <a:solidFill>
                  <a:srgbClr val="161B26"/>
                </a:solidFill>
                <a:latin typeface="Arial"/>
              </a:rPr>
              <a:t>•  Drive structure and controlled automation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Start from the previous checkpoint and the same synthetic Aster &amp; Finch partner-briefing scenario.</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Use a structured prompt or deterministic rule against named approved sources.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Create an observable artifact inside Workspace or a supplied fallback.</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Run a Test It check, record exceptions and save the checkpoint for the next lab.</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CONTROL 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Human Checks Across the Workspace 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INPUT</a:t>
            </a:r>
          </a:p>
          <a:p>
            <a:pPr algn="l">
              <a:spcAft>
                <a:spcPts val="300"/>
              </a:spcAft>
            </a:pPr>
            <a:r>
              <a:rPr sz="1200" b="0">
                <a:solidFill>
                  <a:srgbClr val="5B6372"/>
                </a:solidFill>
                <a:latin typeface="Arial"/>
              </a:rPr>
              <a:t>Authority, data class, minimum fields, file permissions and source version.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GENERATION</a:t>
            </a:r>
          </a:p>
          <a:p>
            <a:pPr algn="l">
              <a:spcAft>
                <a:spcPts val="300"/>
              </a:spcAft>
            </a:pPr>
            <a:r>
              <a:rPr sz="1200" b="0">
                <a:solidFill>
                  <a:srgbClr val="5B6372"/>
                </a:solidFill>
                <a:latin typeface="Arial"/>
              </a:rPr>
              <a:t>Prompt contract, source boundary, uncertainty and unsuitable-content check.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TRANSFORMATION</a:t>
            </a:r>
          </a:p>
          <a:p>
            <a:pPr algn="l">
              <a:spcAft>
                <a:spcPts val="300"/>
              </a:spcAft>
            </a:pPr>
            <a:r>
              <a:rPr sz="1200" b="0">
                <a:solidFill>
                  <a:srgbClr val="5B6372"/>
                </a:solidFill>
                <a:latin typeface="Arial"/>
              </a:rPr>
              <a:t>Formula logic, row grain, duplicates, ranges and reproducible rules.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OUTPUT</a:t>
            </a:r>
          </a:p>
          <a:p>
            <a:pPr algn="l">
              <a:spcAft>
                <a:spcPts val="300"/>
              </a:spcAft>
            </a:pPr>
            <a:r>
              <a:rPr sz="1200" b="0">
                <a:solidFill>
                  <a:srgbClr val="5B6372"/>
                </a:solidFill>
                <a:latin typeface="Arial"/>
              </a:rPr>
              <a:t>Fact review, recipients, sharing, accessibility, approvals and audit evidence.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Gemini in Google Workspace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Generative AI and Gemini - Access across apps - Effective prompting - Responsible, secure and private use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Day 1 morning - 2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Gemini in Google Workspace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Generative AI</a:t>
            </a:r>
          </a:p>
          <a:p>
            <a:pPr algn="l">
              <a:spcAft>
                <a:spcPts val="300"/>
              </a:spcAft>
            </a:pPr>
            <a:r>
              <a:rPr sz="1200" b="0">
                <a:solidFill>
                  <a:srgbClr val="5B6372"/>
                </a:solidFill>
                <a:latin typeface="Arial"/>
              </a:rPr>
              <a:t>A probabilistic system that creates a candidate output from instructions and context; it does not guarantee truth.</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Workspace grounding</a:t>
            </a:r>
          </a:p>
          <a:p>
            <a:pPr algn="l">
              <a:spcAft>
                <a:spcPts val="300"/>
              </a:spcAft>
            </a:pPr>
            <a:r>
              <a:rPr sz="1200" b="0">
                <a:solidFill>
                  <a:srgbClr val="5B6372"/>
                </a:solidFill>
                <a:latin typeface="Arial"/>
              </a:rPr>
              <a:t>Gemini can use selected Workspace sources and the user's existing permissions to add relevant context.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P-T-C-F prompt</a:t>
            </a:r>
          </a:p>
          <a:p>
            <a:pPr algn="l">
              <a:spcAft>
                <a:spcPts val="300"/>
              </a:spcAft>
            </a:pPr>
            <a:r>
              <a:rPr sz="1200" b="0">
                <a:solidFill>
                  <a:srgbClr val="5B6372"/>
                </a:solidFill>
                <a:latin typeface="Arial"/>
              </a:rPr>
              <a:t>Persona, Task, Context and Format make the request, evidence boundary and expected output explicit.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Human review gate</a:t>
            </a:r>
          </a:p>
          <a:p>
            <a:pPr algn="l">
              <a:spcAft>
                <a:spcPts val="300"/>
              </a:spcAft>
            </a:pPr>
            <a:r>
              <a:rPr sz="1200" b="0">
                <a:solidFill>
                  <a:srgbClr val="5B6372"/>
                </a:solidFill>
                <a:latin typeface="Arial"/>
              </a:rPr>
              <a:t>A named person verifies facts, privacy, permissions, tone and destination before output is used.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Introduction to Generative AI and Gemini in Workspace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Generative AI predicts and assembles a useful candidate response from patterns in data, instructions and supplied context. Gemini in Google Workspace places this capability inside familiar apps so a user can draft, summarise, organise and analyse without treating the generated output as an authoritative record.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productivity gain comes from reducing the first-pass effort, not from transferring accountability to the model. A useful mental model is assistant, source and reviewer: Gemini proposes, approved Workspace material grounds the task, and a person decides what is accurate and appropriate.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Introduction to Generative AI and Gemini in Workspace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the workplace task and the decision the output will support.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Select the minimum approved source material needed for context.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Ask Gemini for a bounded candidate in a specified format.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every material statement with the source or an independent record.</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Edit, approve and share through the normal Workspace controls.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Introduction to Generative AI and Gemini in Workspace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Aster &amp; Finch is planning a synthetic partner briefing and has an approved project brief.</a:t>
            </a:r>
          </a:p>
          <a:p>
            <a:pPr>
              <a:spcAft>
                <a:spcPts val="1000"/>
              </a:spcAft>
            </a:pPr>
            <a:r>
              <a:rPr sz="1600" b="0">
                <a:solidFill>
                  <a:srgbClr val="161B26"/>
                </a:solidFill>
                <a:latin typeface="Arial"/>
              </a:rPr>
              <a:t>•  Gemini converts the brief into a draft agenda, but labels missing venue and speaker details as open questions.</a:t>
            </a:r>
          </a:p>
          <a:p>
            <a:pPr>
              <a:spcAft>
                <a:spcPts val="1000"/>
              </a:spcAft>
            </a:pPr>
            <a:r>
              <a:rPr sz="1600" b="0">
                <a:solidFill>
                  <a:srgbClr val="161B26"/>
                </a:solidFill>
                <a:latin typeface="Arial"/>
              </a:rPr>
              <a:t>•  The coordinator verifies those fields before the agenda becomes a shared document.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repetitive drafting or synthesis task has approved source material and a human owner.</a:t>
            </a:r>
          </a:p>
          <a:p>
            <a:pPr>
              <a:spcAft>
                <a:spcPts val="1000"/>
              </a:spcAft>
            </a:pPr>
            <a:r>
              <a:rPr sz="1400" b="0">
                <a:solidFill>
                  <a:srgbClr val="5B6372"/>
                </a:solidFill>
                <a:latin typeface="Arial"/>
              </a:rPr>
              <a:t>–  The output can be checked before it influences a customer, employee or business decision.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task needs a guaranteed fact but no trustworthy source is available.</a:t>
            </a:r>
          </a:p>
          <a:p>
            <a:pPr>
              <a:spcAft>
                <a:spcPts val="1000"/>
              </a:spcAft>
            </a:pPr>
            <a:r>
              <a:rPr sz="1400" b="0">
                <a:solidFill>
                  <a:srgbClr val="5B6372"/>
                </a:solidFill>
                <a:latin typeface="Arial"/>
              </a:rPr>
              <a:t>–  The user intends to send or publish the first response without review.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Introduction to Generative AI and Gemini in Workspace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response sounds confident but cannot show where a key statement came from.</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Constrain the prompt to named sources and require UNKNOWN for unsupported details.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reviewer can trace each material statement to an approved file or record.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and Accessing Gemini Across Workspace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Gemini features appear according to the user's Google account, eligible plan, administrator settings, language, region and app. Common entry points include an Ask Gemini side panel or an in-context create, refine, summarise or visualise control; exact labels may change as Workspace evolves.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workflow that assumes every account has the same controls will fail in a real class or organisation. Separating the durable job from a particular button lets users verify availability, protect permissions and use a manual or trainer-provided fallback without losing the learning objective.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Setting Up and Accessing Gemini Across Workspace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with the intended account and identify whether it is personal or organisation-managed.</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Gmail, Docs, Sheets, Slides, Drive and Meet for the relevant Gemini entry point.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Confirm that the source files are accessible only to the intended account and collaborators.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unavailable features, language limitations and any administrator restriction.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a fallback: trainer demonstration, manual app feature or provided sample output.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Setting Up and Accessing Gemini Across Workspace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learner can open Gemini in Docs and Sheets but not Take notes for me in Meet.</a:t>
            </a:r>
          </a:p>
          <a:p>
            <a:pPr>
              <a:spcAft>
                <a:spcPts val="1000"/>
              </a:spcAft>
            </a:pPr>
            <a:r>
              <a:rPr sz="1600" b="0">
                <a:solidFill>
                  <a:srgbClr val="161B26"/>
                </a:solidFill>
                <a:latin typeface="Arial"/>
              </a:rPr>
              <a:t>•  The learner records the gap, uses the supplied meeting transcript and still completes the notes-review workflow.</a:t>
            </a:r>
          </a:p>
          <a:p>
            <a:pPr>
              <a:spcAft>
                <a:spcPts val="1000"/>
              </a:spcAft>
            </a:pPr>
            <a:r>
              <a:rPr sz="1600" b="0">
                <a:solidFill>
                  <a:srgbClr val="161B26"/>
                </a:solidFill>
                <a:latin typeface="Arial"/>
              </a:rPr>
              <a:t>•  No account credentials or protected organisation files are moved to another service.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You are validating a repeatable workflow for a known account and Workspace plan.</a:t>
            </a:r>
          </a:p>
          <a:p>
            <a:pPr>
              <a:spcAft>
                <a:spcPts val="1000"/>
              </a:spcAft>
            </a:pPr>
            <a:r>
              <a:rPr sz="1400" b="0">
                <a:solidFill>
                  <a:srgbClr val="5B6372"/>
                </a:solidFill>
                <a:latin typeface="Arial"/>
              </a:rPr>
              <a:t>–  A fallback can preserve the same evidence, review and output requirements.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feature is assumed available because it appears in a demonstration or help page.</a:t>
            </a:r>
          </a:p>
          <a:p>
            <a:pPr>
              <a:spcAft>
                <a:spcPts val="1000"/>
              </a:spcAft>
            </a:pPr>
            <a:r>
              <a:rPr sz="1400" b="0">
                <a:solidFill>
                  <a:srgbClr val="5B6372"/>
                </a:solidFill>
                <a:latin typeface="Arial"/>
              </a:rPr>
              <a:t>–  The workaround would copy restricted information into an unapproved account or tool.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Setting Up and Accessing Gemini Across Workspace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lab stops at a missing sparkle icon or unavailable control.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 the job, use the documented fallback and capture the same final artifact.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access matrix shows account, app, feature, status and safe fallback.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Effective Prompting for Everyday Work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effective prompt communicates four core elements: Persona, Task, Context and Format. The course adds a Source boundary and Review criteria so the response is useful for work: who Gemini should help, what to do, which facts to use, what the result should look like, and how a person will check 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Vague prompts hide assumptions and make quality subjective. A structured prompt creates an observable contract, supports iteration and lets another person reproduce the request rather than guessing what the author intended.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Effective Prompting for Everyday Work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Set the persona and intended audience only when they improve tone or domain framing.</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a precise action verb and define the finished artifact or decision.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Provide approved context and state which sources take priority.</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Specify length, structure, tone and fields that must remain UNKNOWN when absent.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the first response, name the defect and change one instruction at a time.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Effective Prompting for Everyday Work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Persona: workplace coordinator writing for external partners.</a:t>
            </a:r>
          </a:p>
          <a:p>
            <a:pPr>
              <a:spcAft>
                <a:spcPts val="1000"/>
              </a:spcAft>
            </a:pPr>
            <a:r>
              <a:rPr sz="1600" b="0">
                <a:solidFill>
                  <a:srgbClr val="161B26"/>
                </a:solidFill>
                <a:latin typeface="Arial"/>
              </a:rPr>
              <a:t>•  Task and context: draft a concise invitation using only the Aster &amp; Finch project brief.</a:t>
            </a:r>
          </a:p>
          <a:p>
            <a:pPr>
              <a:spcAft>
                <a:spcPts val="1000"/>
              </a:spcAft>
            </a:pPr>
            <a:r>
              <a:rPr sz="1600" b="0">
                <a:solidFill>
                  <a:srgbClr val="161B26"/>
                </a:solidFill>
                <a:latin typeface="Arial"/>
              </a:rPr>
              <a:t>•  Format and review: subject plus 150-word email; flag unsupported details and list a final fact check.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task, audience, sources and desired structure can be stated clearly.</a:t>
            </a:r>
          </a:p>
          <a:p>
            <a:pPr>
              <a:spcAft>
                <a:spcPts val="1000"/>
              </a:spcAft>
            </a:pPr>
            <a:r>
              <a:rPr sz="1400" b="0">
                <a:solidFill>
                  <a:srgbClr val="5B6372"/>
                </a:solidFill>
                <a:latin typeface="Arial"/>
              </a:rPr>
              <a:t>–  Several iterations can be compared against the same quality criteria.</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prompt asks Gemini to invent missing evidence or imitate a real person's private style.</a:t>
            </a:r>
          </a:p>
          <a:p>
            <a:pPr>
              <a:spcAft>
                <a:spcPts val="1000"/>
              </a:spcAft>
            </a:pPr>
            <a:r>
              <a:rPr sz="1400" b="0">
                <a:solidFill>
                  <a:srgbClr val="5B6372"/>
                </a:solidFill>
                <a:latin typeface="Arial"/>
              </a:rPr>
              <a:t>–  The user keeps adding conflicting instructions without resolving priorities.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Effective Prompting for Everyday Work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output is generic, long or filled with invented specifics.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the missing P-T-C-F element, a source boundary and observable constraints.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final response satisfies a checklist another learner can apply consistently.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Responsible, Secure and Private Use of AI at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Responsible use combines data classification, least-privilege access, appropriate sharing, source verification, disclosure where needed and a human decision owner. Workspace protections matter, but they do not replace an organisation's policies or the user's duty to choose suitable inputs and recipients.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Gemini can accelerate a mistake as easily as a good workflow. A privacy-safe prompt can still produce an inaccurate claim, and an accurate draft can still be overshared; controls must therefore cover the full path from source selection to final destination.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Responsible, Secure and Private Use of AI at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Classify the intended input as public, internal, confidential or restricted under local policy.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Minimise the content and remove unnecessary personal or sensitive fields.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source-file access and the destination's sharing permissions.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facts, calculations, tone, bias, rights and any required disclosure.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the reviewer, decision and final approved version.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Responsible, Secure and Private Use of AI at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synthetic registration sheet contains names and contact fields that the analysis does not need.</a:t>
            </a:r>
          </a:p>
          <a:p>
            <a:pPr>
              <a:spcAft>
                <a:spcPts val="1000"/>
              </a:spcAft>
            </a:pPr>
            <a:r>
              <a:rPr sz="1600" b="0">
                <a:solidFill>
                  <a:srgbClr val="161B26"/>
                </a:solidFill>
                <a:latin typeface="Arial"/>
              </a:rPr>
              <a:t>•  The learner works from a minimised training copy, reports only grouped counts and shares results with named collaborators.</a:t>
            </a:r>
          </a:p>
          <a:p>
            <a:pPr>
              <a:spcAft>
                <a:spcPts val="1000"/>
              </a:spcAft>
            </a:pPr>
            <a:r>
              <a:rPr sz="1600" b="0">
                <a:solidFill>
                  <a:srgbClr val="161B26"/>
                </a:solidFill>
                <a:latin typeface="Arial"/>
              </a:rPr>
              <a:t>•  A control log records sources, checks, approver and destination.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organisation permits the data and task, and a defined reviewer can inspect the result.</a:t>
            </a:r>
          </a:p>
          <a:p>
            <a:pPr>
              <a:spcAft>
                <a:spcPts val="1000"/>
              </a:spcAft>
            </a:pPr>
            <a:r>
              <a:rPr sz="1400" b="0">
                <a:solidFill>
                  <a:srgbClr val="5B6372"/>
                </a:solidFill>
                <a:latin typeface="Arial"/>
              </a:rPr>
              <a:t>–  The output remains inside an approved access and sharing boundary.</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prompt includes passwords, secrets, protected personal records or information outside the user's authority.</a:t>
            </a:r>
          </a:p>
          <a:p>
            <a:pPr>
              <a:spcAft>
                <a:spcPts val="1000"/>
              </a:spcAft>
            </a:pPr>
            <a:r>
              <a:rPr sz="1400" b="0">
                <a:solidFill>
                  <a:srgbClr val="5B6372"/>
                </a:solidFill>
                <a:latin typeface="Arial"/>
              </a:rPr>
              <a:t>–  The workflow hides uncertainty or makes a high-impact decision without qualified human review.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Responsible, Secure and Private Use of AI at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draft is accurate but visible to people who do not need 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Apply least privilege, remove unnecessary data and check the destination before sharing.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control log proves input authority, source checks, reviewer and recipient scope.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Getting Started with Gemini in Google Workspace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Confirm Access and Build a Safe Prompt Charter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Produce and Verify a Grounded Workspace Briefing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Confirm Access and Build a Safe Prompt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create the C155 project folder, check Gemini and fallback availability across Workspace, classify the supplied synthetic sources and write a reusable P-T-C-F prompt charter. The charter keeps sources, uncertainty, sharing and human approval visible.</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A C155-Aster-Finch Drive folder with four state subfolders, an 01-access-matrix sheet and a 01-prompt-charter document containing approved sources, prohibited inputs, a reusable prompt pattern and the G-E-A-R review gate.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Check access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Classify inputs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Write P-T-C-F</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Set review gates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Google Drive - Docs - Sheets - Gemini features where available - supplied synthetic source pack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Confirm Access and Build a Safe Prompt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 the Drive folder and both artifacts. There must be four correctly named state folders; 01-access-matrix must have seven app rows and four data-boundary rows; 01-prompt-charter must contain all eleven headings, one initial and one generated or manually refined second response, UNKNOWN for unsupported details, four G-E-A-R checks and a visible WORKING decision.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Produce and Verify a Grounded Workspace Briefing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apply the Lab 1 charter to create a structured partner-briefing candidate. You will then build a claim ledger, test the response against the sources and move only the reviewed version into the approved state.</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A 02-grounded-briefing Google Doc with seven required sections and a 02-claim-review-ledger Google Sheet that traces every material statement to a source, marks unsupported details and records the final human decision.</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Scope sources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Generate candidate</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Trace claims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Approve or hold</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Google Docs - Google Sheets - Gemini in Docs or supplied fallback - Drive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Produce and Verify a Grounded Workspace Briefing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briefing must contain all seven headings, 450-600 words, the two exact source paths, an open-question table and a four-row G-E-A-R table. The ledger must cover at least nine material claims and contain no VERIFIED row without a source excerpt. The Drive state must match the recorded APPROVED FOR COURSE WORKFLOW or HOLD decision.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Getting Started with Gemini in Google Workspace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explain Gemini access, prompt structure and responsible controls across Google Workspace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use an effective prompt and a human review gate to create a source-grounded workplace briefing</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Gemini in Docs, Slides and Gmail</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Drafting, rewriting and summarising - Slides and images - Gmail threads and replies - Reviewing generated content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Day 1 afternoon - 2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Gemini in Docs, Slides and Gmail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Source-led draft</a:t>
            </a:r>
          </a:p>
          <a:p>
            <a:pPr algn="l">
              <a:spcAft>
                <a:spcPts val="300"/>
              </a:spcAft>
            </a:pPr>
            <a:r>
              <a:rPr sz="1200" b="0">
                <a:solidFill>
                  <a:srgbClr val="5B6372"/>
                </a:solidFill>
                <a:latin typeface="Arial"/>
              </a:rPr>
              <a:t>A first version whose facts and constraints come from named approved material.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Message architecture</a:t>
            </a:r>
          </a:p>
          <a:p>
            <a:pPr algn="l">
              <a:spcAft>
                <a:spcPts val="300"/>
              </a:spcAft>
            </a:pPr>
            <a:r>
              <a:rPr sz="1200" b="0">
                <a:solidFill>
                  <a:srgbClr val="5B6372"/>
                </a:solidFill>
                <a:latin typeface="Arial"/>
              </a:rPr>
              <a:t>Audience need, core message, supporting evidence and next action shape documents, slides and email.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Visual brief</a:t>
            </a:r>
          </a:p>
          <a:p>
            <a:pPr algn="l">
              <a:spcAft>
                <a:spcPts val="300"/>
              </a:spcAft>
            </a:pPr>
            <a:r>
              <a:rPr sz="1200" b="0">
                <a:solidFill>
                  <a:srgbClr val="5B6372"/>
                </a:solidFill>
                <a:latin typeface="Arial"/>
              </a:rPr>
              <a:t>Purpose, subject, composition, aspect ratio, style and exclusions guide image generation.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Review ledger</a:t>
            </a:r>
          </a:p>
          <a:p>
            <a:pPr algn="l">
              <a:spcAft>
                <a:spcPts val="300"/>
              </a:spcAft>
            </a:pPr>
            <a:r>
              <a:rPr sz="1200" b="0">
                <a:solidFill>
                  <a:srgbClr val="5B6372"/>
                </a:solidFill>
                <a:latin typeface="Arial"/>
              </a:rPr>
              <a:t>Claim, source, status, edit and approver make human refinement visible.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Drafting, Rewriting and Summarising in Docs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Gemini in Docs can create a starting draft, transform selected text and summarise information from a document or referenced Workspace sources. Drafting creates new structure, rewriting changes an existing passage, and summarising compresses meaning; each operation requires a different instruction and review test.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Treating the three operations as interchangeable produces vague or distorted content. Naming the operation, audience and source boundary preserves intent and makes it easier to compare the generated passage with the evidence.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Drafting, Rewriting and Summarising in Docs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create, rewrite or summarise according to the actual communication need.</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Reference the approved file or paste a bounded source excerpt.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Specify audience, purpose, tone, length and required headings.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Insert only the useful candidate text into the working document.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facts and meaning with the source, then edit in the document.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Drafting, Rewriting and Summarising in Docs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coordinator asks for a one-page partner briefing using the project brief and facts file.</a:t>
            </a:r>
          </a:p>
          <a:p>
            <a:pPr>
              <a:spcAft>
                <a:spcPts val="1000"/>
              </a:spcAft>
            </a:pPr>
            <a:r>
              <a:rPr sz="1600" b="0">
                <a:solidFill>
                  <a:srgbClr val="161B26"/>
                </a:solidFill>
                <a:latin typeface="Arial"/>
              </a:rPr>
              <a:t>•  Gemini produces Objectives, Audience, Agenda, Logistics and Open Questions.</a:t>
            </a:r>
          </a:p>
          <a:p>
            <a:pPr>
              <a:spcAft>
                <a:spcPts val="1000"/>
              </a:spcAft>
            </a:pPr>
            <a:r>
              <a:rPr sz="1600" b="0">
                <a:solidFill>
                  <a:srgbClr val="161B26"/>
                </a:solidFill>
                <a:latin typeface="Arial"/>
              </a:rPr>
              <a:t>•  The coordinator rejects an invented capacity figure and keeps the verified structure.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source is known and the output is a draft that will be edited.</a:t>
            </a:r>
          </a:p>
          <a:p>
            <a:pPr>
              <a:spcAft>
                <a:spcPts val="1000"/>
              </a:spcAft>
            </a:pPr>
            <a:r>
              <a:rPr sz="1400" b="0">
                <a:solidFill>
                  <a:srgbClr val="5B6372"/>
                </a:solidFill>
                <a:latin typeface="Arial"/>
              </a:rPr>
              <a:t>–  A rewrite can be judged for meaning, tone and audience accessibility.</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summary would remove contractual nuance or a required qualification.</a:t>
            </a:r>
          </a:p>
          <a:p>
            <a:pPr>
              <a:spcAft>
                <a:spcPts val="1000"/>
              </a:spcAft>
            </a:pPr>
            <a:r>
              <a:rPr sz="1400" b="0">
                <a:solidFill>
                  <a:srgbClr val="5B6372"/>
                </a:solidFill>
                <a:latin typeface="Arial"/>
              </a:rPr>
              <a:t>–  The prompt gives only a title and expects correct organisation-specific facts.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Drafting, Rewriting and Summarising in Docs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polished paragraph changes or omits a material source condition.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Quote the controlling source, require open questions and compare sentence by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document's claim ledger shows the source and final edit for every material fact.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Generating Slides, Layouts and Images in Slides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useful presentation turns a decision or story into a sequence of claims, evidence and actions. Gemini can help create slide candidates, rewrite text and generate images, but the presenter still controls narrative, factual support, accessibility, brand fit and whether a generated visual represents reality appropriately.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collection of attractive slides is not automatically a coherent presentation. Starting from audience and message architecture prevents decorative output from replacing the business purpose, while a visual brief reduces generic or misleading imagery.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Generating Slides, Layouts and Images in Slides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the audience question and one-sentence presentation promise.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a slide outline with one message and evidence need per slide.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or refine only the slide text that has approved support.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Write a visual brief with subject, composition, aspect ratio, style and exclusions.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the full sequence for evidence, hierarchy, accessibility and next action.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Generating Slides, Layouts and Images in Slides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partner briefing uses six slides: purpose, audience need, agenda, participation data, action plan and next steps.</a:t>
            </a:r>
          </a:p>
          <a:p>
            <a:pPr>
              <a:spcAft>
                <a:spcPts val="1000"/>
              </a:spcAft>
            </a:pPr>
            <a:r>
              <a:rPr sz="1600" b="0">
                <a:solidFill>
                  <a:srgbClr val="161B26"/>
                </a:solidFill>
                <a:latin typeface="Arial"/>
              </a:rPr>
              <a:t>•  A wide abstract collaboration image supports the title without depicting a real attendee or unsupported venue.</a:t>
            </a:r>
          </a:p>
          <a:p>
            <a:pPr>
              <a:spcAft>
                <a:spcPts val="1000"/>
              </a:spcAft>
            </a:pPr>
            <a:r>
              <a:rPr sz="1600" b="0">
                <a:solidFill>
                  <a:srgbClr val="161B26"/>
                </a:solidFill>
                <a:latin typeface="Arial"/>
              </a:rPr>
              <a:t>•  All figures point to the registration sheet and all open details remain visibly pending.</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deck has a defined audience, message and evidence source.</a:t>
            </a:r>
          </a:p>
          <a:p>
            <a:pPr>
              <a:spcAft>
                <a:spcPts val="1000"/>
              </a:spcAft>
            </a:pPr>
            <a:r>
              <a:rPr sz="1400" b="0">
                <a:solidFill>
                  <a:srgbClr val="5B6372"/>
                </a:solidFill>
                <a:latin typeface="Arial"/>
              </a:rPr>
              <a:t>–  Generated imagery is illustrative, appropriate and reviewed before use.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image could be mistaken for documentary proof of a real person, place or event.</a:t>
            </a:r>
          </a:p>
          <a:p>
            <a:pPr>
              <a:spcAft>
                <a:spcPts val="1000"/>
              </a:spcAft>
            </a:pPr>
            <a:r>
              <a:rPr sz="1400" b="0">
                <a:solidFill>
                  <a:srgbClr val="5B6372"/>
                </a:solidFill>
                <a:latin typeface="Arial"/>
              </a:rPr>
              <a:t>–  Slide generation is used to hide missing analysis or compress unreadable amounts of text.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Generating Slides, Layouts and Images in Slides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Each slide looks acceptable alone but the sequence has no decision path.</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Restate the audience question and give every slide one message and one role.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slide map links message, evidence, visual purpose and audience action.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Writing, Replying and Summarising Emails in Gmail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Gemini in Gmail can summarise a thread, draft a new message, suggest a reply and retrieve relevant information from permitted Workspace sources. The output must still respect thread history, recipient scope, commitments, tone and the difference between a suggested action and an approved promise.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Email is an external action surface: a small invented date, price or commitment can create real consequences. A safe workflow separates understanding the thread, deciding the response and drafting the message, then requires a final recipient and attachment check.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Writing, Replying and Summarising Emails in Gmail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Summarise the thread into facts, requests, decisions, owners and unresolved questions.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the summary against the original messages and named files.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Decide what the organisation can commit to before asking for a reply.</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Draft with a clear subject, context, response, owner, date and next action.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To, Cc, attachments, links and every commitment before sending.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Writing, Replying and Summarising Emails in Gmail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synthetic partner thread asks about capacity, accessibility and the final agenda.</a:t>
            </a:r>
          </a:p>
          <a:p>
            <a:pPr>
              <a:spcAft>
                <a:spcPts val="1000"/>
              </a:spcAft>
            </a:pPr>
            <a:r>
              <a:rPr sz="1600" b="0">
                <a:solidFill>
                  <a:srgbClr val="161B26"/>
                </a:solidFill>
                <a:latin typeface="Arial"/>
              </a:rPr>
              <a:t>•  Gemini separates confirmed facts from open questions and drafts a holding reply.</a:t>
            </a:r>
          </a:p>
          <a:p>
            <a:pPr>
              <a:spcAft>
                <a:spcPts val="1000"/>
              </a:spcAft>
            </a:pPr>
            <a:r>
              <a:rPr sz="1600" b="0">
                <a:solidFill>
                  <a:srgbClr val="161B26"/>
                </a:solidFill>
                <a:latin typeface="Arial"/>
              </a:rPr>
              <a:t>•  The coordinator removes an unapproved promise and saves the message as a draft for review.</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thread is bounded and the sender has authority to prepare a response.</a:t>
            </a:r>
          </a:p>
          <a:p>
            <a:pPr>
              <a:spcAft>
                <a:spcPts val="1000"/>
              </a:spcAft>
            </a:pPr>
            <a:r>
              <a:rPr sz="1400" b="0">
                <a:solidFill>
                  <a:srgbClr val="5B6372"/>
                </a:solidFill>
                <a:latin typeface="Arial"/>
              </a:rPr>
              <a:t>–  The final message can remain a draft until facts and recipients are checked.</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response would commit money, legal terms or sensitive information without an owner.</a:t>
            </a:r>
          </a:p>
          <a:p>
            <a:pPr>
              <a:spcAft>
                <a:spcPts val="1000"/>
              </a:spcAft>
            </a:pPr>
            <a:r>
              <a:rPr sz="1400" b="0">
                <a:solidFill>
                  <a:srgbClr val="5B6372"/>
                </a:solidFill>
                <a:latin typeface="Arial"/>
              </a:rPr>
              <a:t>–  The thread includes recipients or content the user is not authorised to expose to another tool or group.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Writing, Replying and Summarising Emails in Gmail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draft promises a date or deliverable not agreed in the thread.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Convert unverified commitments to questions and name the decision owner.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saved draft matches the verified thread summary and has a completed send checklist.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Refining AI-Generated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Review is a structured comparison between the output, the source, the intended audience and the use context. The G-E-A-R loop used in this course checks Grounding, Evidence, Audience and Risk before a human approves, edits or rejects the candidate.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Fluency makes generated content feel finished earlier than it is. An explicit loop catches factual drift, missing qualifications, inappropriate tone, inaccessible design, privacy exposure and unsupported actions across Docs, Slides and Gmail.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Reviewing and Refining AI-Generated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Grounding: identify the sources and the exact task the response should satisfy.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Evidence: verify claims, numbers, names, dates, links and calculations.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Audience: test clarity, tone, structure, accessibility and next action.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Risk: inspect privacy, permissions, bias, rights, commitments and destination.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the change and approver, then review the final assembled artifact again.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Reviewing and Refining AI-Generated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deck states that 48 partners confirmed attendance, while the sheet contains 46 valid confirmations.</a:t>
            </a:r>
          </a:p>
          <a:p>
            <a:pPr>
              <a:spcAft>
                <a:spcPts val="1000"/>
              </a:spcAft>
            </a:pPr>
            <a:r>
              <a:rPr sz="1600" b="0">
                <a:solidFill>
                  <a:srgbClr val="161B26"/>
                </a:solidFill>
                <a:latin typeface="Arial"/>
              </a:rPr>
              <a:t>•  The reviewer records the mismatch, corrects the slide and adds the sheet range to the source note.</a:t>
            </a:r>
          </a:p>
          <a:p>
            <a:pPr>
              <a:spcAft>
                <a:spcPts val="1000"/>
              </a:spcAft>
            </a:pPr>
            <a:r>
              <a:rPr sz="1600" b="0">
                <a:solidFill>
                  <a:srgbClr val="161B26"/>
                </a:solidFill>
                <a:latin typeface="Arial"/>
              </a:rPr>
              <a:t>•  A second pass confirms the email and document use the same verified count.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output will inform another person or become an organisation record.</a:t>
            </a:r>
          </a:p>
          <a:p>
            <a:pPr>
              <a:spcAft>
                <a:spcPts val="1000"/>
              </a:spcAft>
            </a:pPr>
            <a:r>
              <a:rPr sz="1400" b="0">
                <a:solidFill>
                  <a:srgbClr val="5B6372"/>
                </a:solidFill>
                <a:latin typeface="Arial"/>
              </a:rPr>
              <a:t>–  A reviewer can access both source and final artifact.</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review is reduced to spelling and visual polish only.</a:t>
            </a:r>
          </a:p>
          <a:p>
            <a:pPr>
              <a:spcAft>
                <a:spcPts val="1000"/>
              </a:spcAft>
            </a:pPr>
            <a:r>
              <a:rPr sz="1400" b="0">
                <a:solidFill>
                  <a:srgbClr val="5B6372"/>
                </a:solidFill>
                <a:latin typeface="Arial"/>
              </a:rPr>
              <a:t>–  The final combined document is never checked after individually approved parts are merged.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Reviewing and Refining AI-Generated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Different Workspace artifacts contain different versions of the same fact.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Choose one controlling source, correct every consumer and re-run the final review.</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cross-artifact ledger shows one verified value and every place it appears.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Gemini in Docs, Slides and Gmail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Draft the Partner Communication Pack in Docs and Gmail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Partner Briefing Deck in Slides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the Partner Communication Pack in Docs and Gmail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distinguish thread facts from requests and commitments, use Gemini to draft a partner invitation from approved sources, refine it in Docs and prepare a Gmail draft. The message remains unsent so recipient, attachment and commitment checks stay visible.</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A 03-partner-communication-pack Google Doc containing a verified thread summary, partner invitation and internal hand-off note, plus one reviewed Gmail draft to the learner's own address with a completed send checklist.</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Summarise thread</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Draft in Docs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Refine for audience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Save reviewed Gmail draft</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Google Docs - Gmail - Gemini in Gmail or Docs where available - Drive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the Partner Communication Pack in Docs and Gmail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communication pack must include all five headings, a thread summary that separates proposals from confirmed facts, a 180-220 word invitation, a five-field cross-artifact ledger, an internal hand-off with Owner/Action/Due/Source/Risk and a ten-row send checklist. Gmail must contain exactly one new unsent draft addressed only to the learner's own training account.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Partner Briefing Deck in Slides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design a slide sequence before generating content, build six low-density slides from approved facts and create one illustrative visual with Gemini or a native-shape fallback. A slide map and G-E-A-R ledger keep the story, evidence and audience action aligned.</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A Google Slides file named 04-partner-briefing-deck with six slides, speaker notes and one reviewed visual, plus a slide-map table in 03-partner-communication-pack linking each slide to its message, source, visual purpose and audience action.</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Map the story</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Create slide candidates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Build visual</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Run sequence review</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Google Slides - Gemini in Slides where available - Google Docs - Drive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Partner Briefing Deck in Slides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Slides file must contain exactly six slides in the mapped order; slides 2-6 must each have a speaker-note source; no slide may exceed one headline and three bullets; one reviewed visual must have alt text; the preparation and workflow visuals must use the stated sequence; slide 3 must include the labelled DATA PLACEHOLDER; and all seven final review rows must be recorded under Deck review in 03-partner-communication-pack and show PASS.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Gemini in Docs, Slides and Gmail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LO2: draft, summarise and refine source-led workplace content in Docs and Gmail</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LO2: create and refine a coherent source-backed presentation and appropriate generated visual in Google Slides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Gemini in Sheets and Data Analysis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Formulas and tables - Analysis and summaries - Charts and visualisations - Cleaning and organising data</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Day 2 morning - 2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Gemini in Sheets and Data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Data grain</a:t>
            </a:r>
          </a:p>
          <a:p>
            <a:pPr algn="l">
              <a:spcAft>
                <a:spcPts val="300"/>
              </a:spcAft>
            </a:pPr>
            <a:r>
              <a:rPr sz="1200" b="0">
                <a:solidFill>
                  <a:srgbClr val="5B6372"/>
                </a:solidFill>
                <a:latin typeface="Arial"/>
              </a:rPr>
              <a:t>What one row represents; every formula, summary and chart must respect that level.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Reproducible transformation</a:t>
            </a:r>
          </a:p>
          <a:p>
            <a:pPr algn="l">
              <a:spcAft>
                <a:spcPts val="300"/>
              </a:spcAft>
            </a:pPr>
            <a:r>
              <a:rPr sz="1200" b="0">
                <a:solidFill>
                  <a:srgbClr val="5B6372"/>
                </a:solidFill>
                <a:latin typeface="Arial"/>
              </a:rPr>
              <a:t>A visible formula, rule or step that another person can rerun and inspect.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Analysis question</a:t>
            </a:r>
          </a:p>
          <a:p>
            <a:pPr algn="l">
              <a:spcAft>
                <a:spcPts val="300"/>
              </a:spcAft>
            </a:pPr>
            <a:r>
              <a:rPr sz="1200" b="0">
                <a:solidFill>
                  <a:srgbClr val="5B6372"/>
                </a:solidFill>
                <a:latin typeface="Arial"/>
              </a:rPr>
              <a:t>A precise metric, population, dimension and time scope that makes a result interpretable.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Chart contract</a:t>
            </a:r>
          </a:p>
          <a:p>
            <a:pPr algn="l">
              <a:spcAft>
                <a:spcPts val="300"/>
              </a:spcAft>
            </a:pPr>
            <a:r>
              <a:rPr sz="1200" b="0">
                <a:solidFill>
                  <a:srgbClr val="5B6372"/>
                </a:solidFill>
                <a:latin typeface="Arial"/>
              </a:rPr>
              <a:t>Title, axes, units, series and source must faithfully encode the stated comparison.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Generating Formulas, Tables and Insights in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Gemini in Sheets can help create tables, formulas and actions such as filters, formatting, pivots and dropdowns. The result is useful only when the data grain, field meaning, formula references and expected output are explicit and the inserted change is tested on known rows.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syntactically valid formula can still answer the wrong question. Starting with a plain-language calculation and sample expected result makes it possible to review a suggestion instead of accepting it because the cell displays a number.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Generating Formulas, Tables and Insights in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State what one row represents and define each input column.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Write the intended calculation in plain language with units and exclusions.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Ask for a formula or table using exact sheet and column references.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Inspect relative and absolute references before filling the formula.</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Test normal, blank, duplicate and boundary rows against manual expectations.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Generating Formulas, Tables and Insights in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Each row is one synthetic partner registration; Seats is the requested quantity.</a:t>
            </a:r>
          </a:p>
          <a:p>
            <a:pPr>
              <a:spcAft>
                <a:spcPts val="1000"/>
              </a:spcAft>
            </a:pPr>
            <a:r>
              <a:rPr sz="1600" b="0">
                <a:solidFill>
                  <a:srgbClr val="161B26"/>
                </a:solidFill>
                <a:latin typeface="Arial"/>
              </a:rPr>
              <a:t>•  A clean formula standardises status and flags Confirmed rows with missing dietary information.</a:t>
            </a:r>
          </a:p>
          <a:p>
            <a:pPr>
              <a:spcAft>
                <a:spcPts val="1000"/>
              </a:spcAft>
            </a:pPr>
            <a:r>
              <a:rPr sz="1600" b="0">
                <a:solidFill>
                  <a:srgbClr val="161B26"/>
                </a:solidFill>
                <a:latin typeface="Arial"/>
              </a:rPr>
              <a:t>•  The learner tests one confirmed, one waitlisted and one blank row before filling down.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data fields and expected result can be described precisely.</a:t>
            </a:r>
          </a:p>
          <a:p>
            <a:pPr>
              <a:spcAft>
                <a:spcPts val="1000"/>
              </a:spcAft>
            </a:pPr>
            <a:r>
              <a:rPr sz="1400" b="0">
                <a:solidFill>
                  <a:srgbClr val="5B6372"/>
                </a:solidFill>
                <a:latin typeface="Arial"/>
              </a:rPr>
              <a:t>–  The proposed formula remains visible and can be tested on sample rows.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sheet mixes several row types or merged headers without a defined grain.</a:t>
            </a:r>
          </a:p>
          <a:p>
            <a:pPr>
              <a:spcAft>
                <a:spcPts val="1000"/>
              </a:spcAft>
            </a:pPr>
            <a:r>
              <a:rPr sz="1400" b="0">
                <a:solidFill>
                  <a:srgbClr val="5B6372"/>
                </a:solidFill>
                <a:latin typeface="Arial"/>
              </a:rPr>
              <a:t>–  A generated formula is filled across the dataset before its references are reviewed.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Generating Formulas, Tables and Insights in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formula returns values but changes meaning when copied down.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Review row grain and lock only the references that should remain fixed.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test table shows input, expected result, actual result and status.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Analysing and Summarising Data with Gemini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Data analysis turns a stated question into defined metrics, comparisons and evidence. Gemini can propose pivots, calculations and narrative insights, but the analyst must define the population, denominator, filters, time scope and uncertainty before interpreting a pattern.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Narrative summaries often sound causal even when the sheet only shows association. Keeping metric definitions and calculation evidence beside the insight prevents plausible wording from outrunning the data.</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Analysing and Summarising Data with Gemini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Write the decision question and define the valid population.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Specify each metric, denominator, grouping and material exclusion.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a pivot or formula output that exposes the calculation.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Ask Gemini for observations grounded only in the visible result.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Label facts, hypotheses and recommended follow-up separately.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Analysing and Summarising Data with Gemini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Question: which partner segment needs the most follow-up before the briefing?</a:t>
            </a:r>
          </a:p>
          <a:p>
            <a:pPr>
              <a:spcAft>
                <a:spcPts val="1000"/>
              </a:spcAft>
            </a:pPr>
            <a:r>
              <a:rPr sz="1600" b="0">
                <a:solidFill>
                  <a:srgbClr val="161B26"/>
                </a:solidFill>
                <a:latin typeface="Arial"/>
              </a:rPr>
              <a:t>•  Metrics: valid registrations, confirmation rate and missing-information count by segment.</a:t>
            </a:r>
          </a:p>
          <a:p>
            <a:pPr>
              <a:spcAft>
                <a:spcPts val="1000"/>
              </a:spcAft>
            </a:pPr>
            <a:r>
              <a:rPr sz="1600" b="0">
                <a:solidFill>
                  <a:srgbClr val="161B26"/>
                </a:solidFill>
                <a:latin typeface="Arial"/>
              </a:rPr>
              <a:t>•  The summary states the observed gap and proposes a follow-up check without claiming why it occurred.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dataset is clean enough for the defined question and calculations are visible.</a:t>
            </a:r>
          </a:p>
          <a:p>
            <a:pPr>
              <a:spcAft>
                <a:spcPts val="1000"/>
              </a:spcAft>
            </a:pPr>
            <a:r>
              <a:rPr sz="1400" b="0">
                <a:solidFill>
                  <a:srgbClr val="5B6372"/>
                </a:solidFill>
                <a:latin typeface="Arial"/>
              </a:rPr>
              <a:t>–  The narrative distinguishes observed evidence from a possible explanation.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prompt asks for insights before defining valid rows or metrics.</a:t>
            </a:r>
          </a:p>
          <a:p>
            <a:pPr>
              <a:spcAft>
                <a:spcPts val="1000"/>
              </a:spcAft>
            </a:pPr>
            <a:r>
              <a:rPr sz="1400" b="0">
                <a:solidFill>
                  <a:srgbClr val="5B6372"/>
                </a:solidFill>
                <a:latin typeface="Arial"/>
              </a:rPr>
              <a:t>–  A small synthetic sample is used to claim a universal business trend.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Analysing and Summarising Data with Gemini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insight has no metric definition or supporting range.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population, formula, grouping, time scope and source range.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Another learner reproduces the value from the same clean table.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Creating Charts and Visualisations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chart encodes a comparison through position, length, colour or shape. Gemini can propose and create visualisations in Sheets, but the user must choose a chart type that matches the question, display units and categories clearly, and verify every plotted value against the source table.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Visuals compress data and therefore amplify both clarity and error. A neutral descriptive title, readable labels and an honest axis help viewers understand what is plotted without implying a conclusion the data cannot support.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Creating Charts and Visualisations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Name the comparison: trend, ranking, composition, distribution or relationship.</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the smallest chart type that visibly encodes that comparison.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a clean source range at one consistent grain.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Set title, axis labels, units, legend and category order.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plotted points with the table and add a concise evidence-based takeaway.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Creating Charts and Visualisations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horizontal bar chart ranks valid registrations by partner segment.</a:t>
            </a:r>
          </a:p>
          <a:p>
            <a:pPr>
              <a:spcAft>
                <a:spcPts val="1000"/>
              </a:spcAft>
            </a:pPr>
            <a:r>
              <a:rPr sz="1600" b="0">
                <a:solidFill>
                  <a:srgbClr val="161B26"/>
                </a:solidFill>
                <a:latin typeface="Arial"/>
              </a:rPr>
              <a:t>•  The title states 'Valid registrations by partner segment'; the x-axis shows registrations.</a:t>
            </a:r>
          </a:p>
          <a:p>
            <a:pPr>
              <a:spcAft>
                <a:spcPts val="1000"/>
              </a:spcAft>
            </a:pPr>
            <a:r>
              <a:rPr sz="1600" b="0">
                <a:solidFill>
                  <a:srgbClr val="161B26"/>
                </a:solidFill>
                <a:latin typeface="Arial"/>
              </a:rPr>
              <a:t>•  The learner checks each bar against the pivot and avoids a truncated scale that exaggerates differences.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visual makes three or more values or a pattern easier to compare.</a:t>
            </a:r>
          </a:p>
          <a:p>
            <a:pPr>
              <a:spcAft>
                <a:spcPts val="1000"/>
              </a:spcAft>
            </a:pPr>
            <a:r>
              <a:rPr sz="1400" b="0">
                <a:solidFill>
                  <a:srgbClr val="5B6372"/>
                </a:solidFill>
                <a:latin typeface="Arial"/>
              </a:rPr>
              <a:t>–  The source table and metric definition can remain available to the reader.</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single number would be clearer as text or a compact table.</a:t>
            </a:r>
          </a:p>
          <a:p>
            <a:pPr>
              <a:spcAft>
                <a:spcPts val="1000"/>
              </a:spcAft>
            </a:pPr>
            <a:r>
              <a:rPr sz="1400" b="0">
                <a:solidFill>
                  <a:srgbClr val="5B6372"/>
                </a:solidFill>
                <a:latin typeface="Arial"/>
              </a:rPr>
              <a:t>–  A decorative 3D or dual-axis treatment could distort the comparison.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Creating Charts and Visualisations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title claims a cause or trend that the chart does not encode.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a neutral title and put the bounded observation in a separate note.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Title, axes, marks and source table all describe the same metric and grain.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Cleaning and Organising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Data cleaning makes values consistent without hiding the original evidence. Typical operations include trimming spaces, standardising categories, parsing dates, handling blanks, identifying duplicates and validating allowed values; every change needs a rule and a retained raw source.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Analysis quality is limited by the inputs. Asking Gemini to 'clean this' without rules can silently merge distinct values or fill unknowns, so a safe workflow profiles first, proposes rules, transforms a copy and reconciles row counts.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Cleaning and Organising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Duplicate the raw tab and record the original row count and key fields.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Profile blanks, category variants, date formats, duplicates and invalid values.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Write a rule table with before, after, reason and treatment of uncertainty.</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Apply formulas or bounded actions to a clean tab while preserving raw values.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Reconcile row counts, totals and exception counts before analysis.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Cleaning and Organising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raw Segment field contains SME, sme and Small business.</a:t>
            </a:r>
          </a:p>
          <a:p>
            <a:pPr>
              <a:spcAft>
                <a:spcPts val="1000"/>
              </a:spcAft>
            </a:pPr>
            <a:r>
              <a:rPr sz="1600" b="0">
                <a:solidFill>
                  <a:srgbClr val="161B26"/>
                </a:solidFill>
                <a:latin typeface="Arial"/>
              </a:rPr>
              <a:t>•  The rule maps approved variants to SME but leaves an unfamiliar value as REVIEW.</a:t>
            </a:r>
          </a:p>
          <a:p>
            <a:pPr>
              <a:spcAft>
                <a:spcPts val="1000"/>
              </a:spcAft>
            </a:pPr>
            <a:r>
              <a:rPr sz="1600" b="0">
                <a:solidFill>
                  <a:srgbClr val="161B26"/>
                </a:solidFill>
                <a:latin typeface="Arial"/>
              </a:rPr>
              <a:t>•  A reconciliation confirms that no valid registration disappeared during deduplication.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organisation can define acceptable values and retain the raw source.</a:t>
            </a:r>
          </a:p>
          <a:p>
            <a:pPr>
              <a:spcAft>
                <a:spcPts val="1000"/>
              </a:spcAft>
            </a:pPr>
            <a:r>
              <a:rPr sz="1400" b="0">
                <a:solidFill>
                  <a:srgbClr val="5B6372"/>
                </a:solidFill>
                <a:latin typeface="Arial"/>
              </a:rPr>
              <a:t>–  Exceptions can be reviewed instead of guessed.</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Missing values are silently invented or duplicate rules are not documented.</a:t>
            </a:r>
          </a:p>
          <a:p>
            <a:pPr>
              <a:spcAft>
                <a:spcPts val="1000"/>
              </a:spcAft>
            </a:pPr>
            <a:r>
              <a:rPr sz="1400" b="0">
                <a:solidFill>
                  <a:srgbClr val="5B6372"/>
                </a:solidFill>
                <a:latin typeface="Arial"/>
              </a:rPr>
              <a:t>–  The only copy of the source is overwritten before totals are reconciled.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Cleaning and Organising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clean table has fewer rows and no explanation for the difference.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Restore the raw copy, log every excluded or merged row and reconcile totals.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rule table, exception list and reconciliation explain every change.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Gemini in Sheets and Data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Clean the Registration Tracker and Generate Formulas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Analyse Registrations and Build the Decision Dashboard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Clean the Registration Tracker and Generate Formulas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import a deliberately inconsistent registration CSV into Sheets, define the row grain and cleaning rules, ask Gemini for formula help and verify every formula before filling it down. A separate Valid tab and reconciliation make exclusions visible.</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A 05-registration-analysis Google Sheet with Raw, Clean, Valid, Rules and Formula-tests tabs. The workbook preserves 24 raw rows, produces 20 valid rows, flags exceptions and documents the exact formula and reason for every transformation.</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Profile raw data</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Define rules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Apply formulas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Reconcile outputs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Google Sheets - Gemini in Sheets where available - Drive - registration-data.csv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Clean the Registration Tracker and Generate Formulas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Raw must contain 24 data rows and remain unchanged; Clean must contain six new formula columns; Formula-tests must show six PASS rows; Valid must contain 20 data rows; and Rules must reconcile 24 = 20 + 1 + 1 + 1 + 1 with every excluded Registration_ID named. A count of MISSING DIETARY in Valid must equal 3.</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Analyse Registrations and Build the Decision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define the valid population and metrics before asking Gemini for insights, create a pivot table and confirmation-rate calculations, then build a simple chart. The final narrative separates observations from hypotheses and updates the approved Slides deck.</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Analysis and Dashboard tabs inside 05-registration-analysis containing a verified pivot, metric definitions, confirmation rates, one horizontal bar chart and a three-part insight note, plus the linked chart inserted into slide 3 of 04-partner-briefing-deck.</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Define question</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Build pivot</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Verify metrics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Create chart and insight</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Google Sheets - Gemini in Sheets where available - Google Slides - Drive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Analyse Registrations and Build the Decision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pivot must reproduce 8/8/4 valid registrations and 5/5/2 confirmations by segment; the rates must be 62.5%, 62.5% and 50.0%; total missing information must be 3; the chart must have one series, a zero baseline and the neutral title; the insight must separate observation, hypothesis and follow-up; and slide 3 must contain the linked chart with the population and exclusion source note.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Gemini in Sheets and Data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LO3: clean and organise spreadsheet data with documented rules, Gemini suggestions and reproducible formulas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LO3: define metrics, analyse clean data and create a truthful chart and bounded narrative in Sheets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AI-Powered Workflows and Automation in Workspace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Meet notes - Drive search and organisation - Connecting apps and simple automations - Practical workflow design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Day 2 afternoon - 2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AI-Powered Workflows and Automation in Workspace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Workflow state</a:t>
            </a:r>
          </a:p>
          <a:p>
            <a:pPr algn="l">
              <a:spcAft>
                <a:spcPts val="300"/>
              </a:spcAft>
            </a:pPr>
            <a:r>
              <a:rPr sz="1200" b="0">
                <a:solidFill>
                  <a:srgbClr val="5B6372"/>
                </a:solidFill>
                <a:latin typeface="Arial"/>
              </a:rPr>
              <a:t>Input, owner, action, output and approval status make work visible across apps.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Permission-aware retrieval</a:t>
            </a:r>
          </a:p>
          <a:p>
            <a:pPr algn="l">
              <a:spcAft>
                <a:spcPts val="300"/>
              </a:spcAft>
            </a:pPr>
            <a:r>
              <a:rPr sz="1200" b="0">
                <a:solidFill>
                  <a:srgbClr val="5B6372"/>
                </a:solidFill>
                <a:latin typeface="Arial"/>
              </a:rPr>
              <a:t>Gemini can only be useful and safe when sources and recipients match authorised access.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Bounded automation</a:t>
            </a:r>
          </a:p>
          <a:p>
            <a:pPr algn="l">
              <a:spcAft>
                <a:spcPts val="300"/>
              </a:spcAft>
            </a:pPr>
            <a:r>
              <a:rPr sz="1200" b="0">
                <a:solidFill>
                  <a:srgbClr val="5B6372"/>
                </a:solidFill>
                <a:latin typeface="Arial"/>
              </a:rPr>
              <a:t>A trigger performs a narrow action with explicit fields, logs and stop conditions.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Observe before scaling</a:t>
            </a:r>
          </a:p>
          <a:p>
            <a:pPr algn="l">
              <a:spcAft>
                <a:spcPts val="300"/>
              </a:spcAft>
            </a:pPr>
            <a:r>
              <a:rPr sz="1200" b="0">
                <a:solidFill>
                  <a:srgbClr val="5B6372"/>
                </a:solidFill>
                <a:latin typeface="Arial"/>
              </a:rPr>
              <a:t>Run, inspect evidence, handle exceptions and expand only after a controlled test.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AI-Assisted Meetings and Notes in Google Meet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Eligible Google Workspace accounts can use Gemini-supported meeting features to capture notes, summarise discussion and identify next steps. The notes are a generated record that must be announced, shared deliberately and reviewed against the conversation before becoming an official source.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Meeting summaries can save transcription and follow-up time, but they may omit context, misattribute an action or expose notes to the wrong invitees. Consent, host control, language support, sharing settings and post-meeting review are part of the workflow rather than optional administration.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AI-Assisted Meetings and Notes in Google Meet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Confirm feature availability, meeting purpose, permitted content and participant notice.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who should receive the notes and apply the minimum sharing scope.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Capture or use the provided synthetic transcript when the feature is unavailable.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decisions, owners, dates, unresolved points and wording against the conversation.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Publish an approved recap and retain exceptions or corrections visibly.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AI-Assisted Meetings and Notes in Google Meet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partner-briefing rehearsal has a synthetic ten-minute transcript and three proposed actions.</a:t>
            </a:r>
          </a:p>
          <a:p>
            <a:pPr>
              <a:spcAft>
                <a:spcPts val="1000"/>
              </a:spcAft>
            </a:pPr>
            <a:r>
              <a:rPr sz="1600" b="0">
                <a:solidFill>
                  <a:srgbClr val="161B26"/>
                </a:solidFill>
                <a:latin typeface="Arial"/>
              </a:rPr>
              <a:t>•  The coordinator corrects one owner, changes an uncertain date to pending and restricts the notes to the internal team.</a:t>
            </a:r>
          </a:p>
          <a:p>
            <a:pPr>
              <a:spcAft>
                <a:spcPts val="1000"/>
              </a:spcAft>
            </a:pPr>
            <a:r>
              <a:rPr sz="1600" b="0">
                <a:solidFill>
                  <a:srgbClr val="161B26"/>
                </a:solidFill>
                <a:latin typeface="Arial"/>
              </a:rPr>
              <a:t>•  Only the approved action table is copied to the shared follow-up document.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Participants are informed and the organisation permits the meeting feature.</a:t>
            </a:r>
          </a:p>
          <a:p>
            <a:pPr>
              <a:spcAft>
                <a:spcPts val="1000"/>
              </a:spcAft>
            </a:pPr>
            <a:r>
              <a:rPr sz="1400" b="0">
                <a:solidFill>
                  <a:srgbClr val="5B6372"/>
                </a:solidFill>
                <a:latin typeface="Arial"/>
              </a:rPr>
              <a:t>–  A host or owner will review the generated notes before wider sharing.</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conversation contains restricted material outside the approved note-taking purpose.</a:t>
            </a:r>
          </a:p>
          <a:p>
            <a:pPr>
              <a:spcAft>
                <a:spcPts val="1000"/>
              </a:spcAft>
            </a:pPr>
            <a:r>
              <a:rPr sz="1400" b="0">
                <a:solidFill>
                  <a:srgbClr val="5B6372"/>
                </a:solidFill>
                <a:latin typeface="Arial"/>
              </a:rPr>
              <a:t>–  Invite visibility is mistaken for permission to access the generated notes document.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AI-Assisted Meetings and Notes in Google Meet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generated action item has the wrong owner or an invented deadline.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Check the relevant transcript segment and mark unresolved fields as pending.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review log records original text, correction, source and approver.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Organising and Searching Drive with Gemini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Gemini in Drive can summarise files or folders, answer questions across permitted sources and help locate or organise material. Retrieval is permission-aware but still depends on clear folder scope, current file versions, meaningful names and a user who verifies the cited sources.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Search becomes unreliable when a folder mixes drafts, duplicates and unclear ownership. A simple information architecture and source register let Gemini retrieve relevant evidence without treating an obsolete file as the controlling record.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Organising and Searching Drive with Gemini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the project folder, owner, audience and naming convention.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Separate source, working, approved and archive states.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Select the smallest relevant files or folder as Gemini context.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Ask for an answer with source filenames, open questions and no unsupported inference.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cited files, verify the response and store the approved output in its correct state.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Organising and Searching Drive with Gemini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C155 project folder contains 01-Source, 02-Working, 03-Approved and 04-Archive.</a:t>
            </a:r>
          </a:p>
          <a:p>
            <a:pPr>
              <a:spcAft>
                <a:spcPts val="1000"/>
              </a:spcAft>
            </a:pPr>
            <a:r>
              <a:rPr sz="1600" b="0">
                <a:solidFill>
                  <a:srgbClr val="161B26"/>
                </a:solidFill>
                <a:latin typeface="Arial"/>
              </a:rPr>
              <a:t>•  Gemini summarises only the approved brief and reviewed registration insight, citing both filenames.</a:t>
            </a:r>
          </a:p>
          <a:p>
            <a:pPr>
              <a:spcAft>
                <a:spcPts val="1000"/>
              </a:spcAft>
            </a:pPr>
            <a:r>
              <a:rPr sz="1600" b="0">
                <a:solidFill>
                  <a:srgbClr val="161B26"/>
                </a:solidFill>
                <a:latin typeface="Arial"/>
              </a:rPr>
              <a:t>•  An older agenda remains in Archive and is not used as the final event source.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folder has clear ownership, versions and access controls.</a:t>
            </a:r>
          </a:p>
          <a:p>
            <a:pPr>
              <a:spcAft>
                <a:spcPts val="1000"/>
              </a:spcAft>
            </a:pPr>
            <a:r>
              <a:rPr sz="1400" b="0">
                <a:solidFill>
                  <a:srgbClr val="5B6372"/>
                </a:solidFill>
                <a:latin typeface="Arial"/>
              </a:rPr>
              <a:t>–  The response can show which files supplied the relevant information.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broad Drive query could mix personal, obsolete or unrelated content.</a:t>
            </a:r>
          </a:p>
          <a:p>
            <a:pPr>
              <a:spcAft>
                <a:spcPts val="1000"/>
              </a:spcAft>
            </a:pPr>
            <a:r>
              <a:rPr sz="1400" b="0">
                <a:solidFill>
                  <a:srgbClr val="5B6372"/>
                </a:solidFill>
                <a:latin typeface="Arial"/>
              </a:rPr>
              <a:t>–  The user assumes retrieval proves the answer is complete or current.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Organising and Searching Drive with Gemini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answer cites a draft that should no longer govern the project.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Clarify file states, narrow the source scope and identify the controlling record.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answer links to an accessible current source in the project register.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Connecting Apps and Building Simple Automations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Google Apps Script is a cloud-based JavaScript platform for extending and automating Workspace. A simple automation reads defined fields, applies a narrow rule and creates an observable action such as a Gmail draft or status update; it should include a dry-run mode, log and explicit authorisation.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Automation removes repeated clicks but also repeats defects at speed. Restricting the trigger, recipient, data fields and action surface makes a beginner workflow easier to understand, test, stop and review before it affects other people.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Connecting Apps and Building Simple Automations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Draw the event, input, rule, action, owner and failure path before writing code.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Gemini to explain or draft a small script against an explicit specification.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Inspect permissions and keep live sending disabled during the first run.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Test one synthetic row and compare the draft, sheet update and execution log.</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Handle blanks, duplicates and errors before considering a wider trigger.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Connecting Apps and Building Simple Automations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bound Sheets script reads one READY row and creates a Gmail draft to the learner's own address.</a:t>
            </a:r>
          </a:p>
          <a:p>
            <a:pPr>
              <a:spcAft>
                <a:spcPts val="1000"/>
              </a:spcAft>
            </a:pPr>
            <a:r>
              <a:rPr sz="1600" b="0">
                <a:solidFill>
                  <a:srgbClr val="161B26"/>
                </a:solidFill>
                <a:latin typeface="Arial"/>
              </a:rPr>
              <a:t>•  Dry-run mode records the intended recipient and subject without creating the draft.</a:t>
            </a:r>
          </a:p>
          <a:p>
            <a:pPr>
              <a:spcAft>
                <a:spcPts val="1000"/>
              </a:spcAft>
            </a:pPr>
            <a:r>
              <a:rPr sz="1600" b="0">
                <a:solidFill>
                  <a:srgbClr val="161B26"/>
                </a:solidFill>
                <a:latin typeface="Arial"/>
              </a:rPr>
              <a:t>•  A live test creates one draft, writes DRAFTED and stores a timestamp so the row is not processed twice.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process is repetitive, rule-based, low-risk and has an observable success condition.</a:t>
            </a:r>
          </a:p>
          <a:p>
            <a:pPr>
              <a:spcAft>
                <a:spcPts val="1000"/>
              </a:spcAft>
            </a:pPr>
            <a:r>
              <a:rPr sz="1400" b="0">
                <a:solidFill>
                  <a:srgbClr val="5B6372"/>
                </a:solidFill>
                <a:latin typeface="Arial"/>
              </a:rPr>
              <a:t>–  The user can review scopes, logs and every action before expanding the run.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automation would bulk-send, delete, change access or process confidential data as a first test.</a:t>
            </a:r>
          </a:p>
          <a:p>
            <a:pPr>
              <a:spcAft>
                <a:spcPts val="1000"/>
              </a:spcAft>
            </a:pPr>
            <a:r>
              <a:rPr sz="1400" b="0">
                <a:solidFill>
                  <a:srgbClr val="5B6372"/>
                </a:solidFill>
                <a:latin typeface="Arial"/>
              </a:rPr>
              <a:t>–  The workflow lacks an owner, idempotency rule or way to stop and inspect failures.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Connecting Apps and Building Simple Automations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Running the script twice creates duplicate external actions.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a processed status or unique key and skip rows already handled.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test log shows one input row, one intended action and one final status.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Designing Practical AI Productivity Workflows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practical workflow links a business trigger to approved sources, human and AI steps, outputs, controls and evidence. The C-O-N-T-R-O-L canvas used here captures Context, Owner, Needed inputs, Task sequence, Review, Output destination and Learning signal.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Tool-first automation often optimises an unclear process. Designing the state changes and review gates first reveals where Gemini adds value, where a person must decide, and which evidence proves the workflow is safe and useful.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Designing Practical AI Productivity Workflows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Context: define the trigger, audience, desired outcome and boundary.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Owner and inputs: name authority, sources, permissions and required fields.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Task sequence: separate generation, deterministic operations and human decisions.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and output: set gates, destination, sharing scope and exception path.</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Learning signal: measure time, correction rate, completion and recurring failure.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Designing Practical AI Productivity Workflows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READY registration row triggers a proposed follow-up, not an automatic external send.</a:t>
            </a:r>
          </a:p>
          <a:p>
            <a:pPr>
              <a:spcAft>
                <a:spcPts val="1000"/>
              </a:spcAft>
            </a:pPr>
            <a:r>
              <a:rPr sz="1600" b="0">
                <a:solidFill>
                  <a:srgbClr val="161B26"/>
                </a:solidFill>
                <a:latin typeface="Arial"/>
              </a:rPr>
              <a:t>•  Gemini helps draft the message; Apps Script creates a Gmail draft; the coordinator reviews and sends manually.</a:t>
            </a:r>
          </a:p>
          <a:p>
            <a:pPr>
              <a:spcAft>
                <a:spcPts val="1000"/>
              </a:spcAft>
            </a:pPr>
            <a:r>
              <a:rPr sz="1600" b="0">
                <a:solidFill>
                  <a:srgbClr val="161B26"/>
                </a:solidFill>
                <a:latin typeface="Arial"/>
              </a:rPr>
              <a:t>•  The log records draft creation, corrections and whether the workflow saved time without increasing errors.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process has a stable trigger, bounded inputs and a human owner.</a:t>
            </a:r>
          </a:p>
          <a:p>
            <a:pPr>
              <a:spcAft>
                <a:spcPts val="1000"/>
              </a:spcAft>
            </a:pPr>
            <a:r>
              <a:rPr sz="1400" b="0">
                <a:solidFill>
                  <a:srgbClr val="5B6372"/>
                </a:solidFill>
                <a:latin typeface="Arial"/>
              </a:rPr>
              <a:t>–  Success, correction and exception evidence can be collected.</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process is still ambiguous or relies on unrecorded personal judgement.</a:t>
            </a:r>
          </a:p>
          <a:p>
            <a:pPr>
              <a:spcAft>
                <a:spcPts val="1000"/>
              </a:spcAft>
            </a:pPr>
            <a:r>
              <a:rPr sz="1400" b="0">
                <a:solidFill>
                  <a:srgbClr val="5B6372"/>
                </a:solidFill>
                <a:latin typeface="Arial"/>
              </a:rPr>
              <a:t>–  Productivity is measured only by output volume rather than quality and risk.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Designing Practical AI Productivity Workflows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workflow is fast but no one can explain who approved the result.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a named gate, status field and evidence artifact before the output leaves Draft.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canvas and run log link trigger, sources, actions, reviewer, output and learning.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AI-Powered Workflows and Automation in Workspace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 the Meeting-to-Drive Follow-Up Workflow</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Automate the Approved Follow-Up from Sheets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Run the Meeting-to-Drive Follow-Up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configure or simulate a Gemini-supported meeting-notes workflow, review a supplied transcript, correct owners and dates, and organise the project's approved Drive sources. Gemini in Drive or a manual fallback then produces a source-cited follow-up brief.</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A 07-meeting-notes-review Google Doc, a 07-source-register Google Sheet and a 07-approved-follow-up-brief Google Doc containing three verified actions, one open question, source citations, sharing controls and a correction log.</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Set note controls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Review transcript</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Organise Drive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Synthesize approved follow-up</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Google Meet - Gemini meeting features where available - Google Drive - Docs - Sheets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Run the Meeting-to-Drive Follow-Up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meeting-notes review must show control settings, three verified actions owned by Jamie, Marcus and Noor, one facilitator open question and a correction log. The source register must cover five current project artifacts with state, owner, range and access. The follow-up brief must cite exact filenames, retain 20 valid/4 excluded and 8/8/4 segment counts, use no Archive source and have a sharing setting that matches the recorded decision.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Automate the Approved Follow-Up from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You will use the approved follow-up evidence to specify a low-risk automation, ask Gemini to explain or draft the code and compare it with the supplied safe script. When Apps Script is available, the script first logs an intended action, then creates one Gmail draft to your own address and refuses to duplicate it. When access is blocked, you trace the same controls and clearly leave live evidence pending.</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An Automation tab and CONTROL canvas in 05-registration-analysis plus either (a) a bound Apps Script project using apps-script-draft.gs, one reviewed Gmail draft to the learner's own account and a run log, or (b) a four-case code trace with live evidence explicitly pending. Both paths cover dry-run, live-run, HOLD and duplicate-prevention behaviour.</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Design CONTROL canvas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Prepare one row</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Run or trace dry test</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Verify draft or blocked-path evidence</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Google Sheets - Apps Script - Gmail Drafts - Gemini in Workspace where available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Automate the Approved Follow-Up from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CONTROL must define all seven fields and the stated limits; Automation must contain one READY self-addressed row and one HOLD synthetic row. On the available path, dry run must create no draft, live run must create exactly one unsent C155 TEST Gmail draft and write DRAFTED, ID and timestamp, the repeat run must create no duplicate and HOLD must remain untouched. On the blocked path, CONTROL must trace dry READY self, live READY self, repeat DRAFTED and HOLD with the expected branch, Sheet writes and Gmail effect; live evidence fields must remain blank and the decision must be CODE WALK-THROUGH COMPLETE - LIVE TEST PENDING. The relevant run record and final human decision must be complete.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AI-Powered Workflows and Automation in Workspace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LO4: review AI-assisted meeting notes, organise approved Drive sources and produce a permission-aware follow-up brief</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LO4: design, implement and verify a bounded Apps Script automation that connects Sheets and Gmail</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Prompt &amp; Protect</a:t>
            </a:r>
          </a:p>
          <a:p>
            <a:pPr algn="l">
              <a:spcAft>
                <a:spcPts val="300"/>
              </a:spcAft>
            </a:pPr>
            <a:r>
              <a:rPr sz="1300" b="0">
                <a:solidFill>
                  <a:srgbClr val="5B6372"/>
                </a:solidFill>
                <a:latin typeface="Arial"/>
              </a:rPr>
              <a:t>Explain how Gemini works across Google Workspace, write effective prompts and apply responsible data, privacy and verification controls.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Write &amp; Present</a:t>
            </a:r>
          </a:p>
          <a:p>
            <a:pPr algn="l">
              <a:spcAft>
                <a:spcPts val="300"/>
              </a:spcAft>
            </a:pPr>
            <a:r>
              <a:rPr sz="1300" b="0">
                <a:solidFill>
                  <a:srgbClr val="5B6372"/>
                </a:solidFill>
                <a:latin typeface="Arial"/>
              </a:rPr>
              <a:t>Draft, rewrite, summarise and refine workplace content in Docs, Slides and Gmail while preserving source accuracy, audience fit and human approval.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Analyse &amp; Visualise</a:t>
            </a:r>
          </a:p>
          <a:p>
            <a:pPr algn="l">
              <a:spcAft>
                <a:spcPts val="300"/>
              </a:spcAft>
            </a:pPr>
            <a:r>
              <a:rPr sz="1300" b="0">
                <a:solidFill>
                  <a:srgbClr val="5B6372"/>
                </a:solidFill>
                <a:latin typeface="Arial"/>
              </a:rPr>
              <a:t>Clean, organise, analyse and visualise spreadsheet data with Gemini in Sheets, formulas and reproducible checks.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Connect &amp; Automate</a:t>
            </a:r>
          </a:p>
          <a:p>
            <a:pPr algn="l">
              <a:spcAft>
                <a:spcPts val="300"/>
              </a:spcAft>
            </a:pPr>
            <a:r>
              <a:rPr sz="1300" b="0">
                <a:solidFill>
                  <a:srgbClr val="5B6372"/>
                </a:solidFill>
                <a:latin typeface="Arial"/>
              </a:rPr>
              <a:t>Design an AI-assisted workflow across Meet, Drive, Sheets, Docs and Gmail, then implement and verify a bounded Workspace automation.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 Practical 30-Day Adoption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Week 1 - inventory one repetitive task, its approved sources, data class, owner and current failure points.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Week 2 - test a P-T-C-F prompt and G-E-A-R review on synthetic or minimised data.</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Week 3 - pilot a draft-only cross-app workflow with logs, exceptions and a small authorised group.</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Week 4 - compare time saved, corrections, completion and risk observations before approving the next scope.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your downloaded C155 course files and use the lab checkpoints to restart safely.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PROMPT WITH PURPOSE - VERIFY WITH EVIDENCE - ACT WITH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use Gemini across Google Workspace as a controlled collaborator: prompt with context, verify with evidence, share deliberately and automate in small observable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Google Workspace with Gemini  ·  C155</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